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as Partes de Conteúdo">
    <p:bg>
      <p:bgPr>
        <a:blipFill rotWithShape="0">
          <a:blip r:embed="rId2"/>
          <a:stretch>
            <a:fillRect l="-996" r="-996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235D21-2DC8-40B1-BDAE-B4C384969D70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blipFill rotWithShape="0">
          <a:blip r:embed="rId2"/>
          <a:stretch>
            <a:fillRect l="-996" r="-996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5EA14E-0C0C-4DB2-B1F8-245FC6E1F883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mente Título">
    <p:bg>
      <p:bgPr>
        <a:blipFill rotWithShape="0">
          <a:blip r:embed="rId2"/>
          <a:stretch>
            <a:fillRect l="-996" r="-996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937D54-F02B-49AF-B1EA-5ECD8F0C4CFF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blipFill rotWithShape="0">
          <a:blip r:embed="rId2"/>
          <a:stretch>
            <a:fillRect l="-996" r="-996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BE2C1B-0D74-492F-B4DA-57AA9DAB85D9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blipFill rotWithShape="0">
          <a:blip r:embed="rId2"/>
          <a:stretch>
            <a:fillRect l="-996" r="-996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0181B2-F0B2-4CF5-8FEA-788D9F0C0541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blipFill rotWithShape="0">
          <a:blip r:embed="rId2"/>
          <a:stretch>
            <a:fillRect l="-996" r="-996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2635F0-75FD-4BB7-AD22-3E48AC1ED910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bg>
      <p:bgPr>
        <a:blipFill rotWithShape="0">
          <a:blip r:embed="rId2"/>
          <a:stretch>
            <a:fillRect l="-996" r="-996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4A46E4-5C0C-45B3-99BF-61947D1934EA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blipFill rotWithShape="0">
          <a:blip r:embed="rId2"/>
          <a:stretch>
            <a:fillRect l="-996" r="-996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191730-A5AA-4EF2-8CDC-8DA275C62B1C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exto e Título Vertical">
    <p:bg>
      <p:bgPr>
        <a:blipFill rotWithShape="0">
          <a:blip r:embed="rId2"/>
          <a:stretch>
            <a:fillRect l="-996" r="-996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DC0C14-D31F-4579-8451-B751A6DC91E4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Conteúdo">
    <p:bg>
      <p:bgPr>
        <a:blipFill rotWithShape="0">
          <a:blip r:embed="rId2"/>
          <a:stretch>
            <a:fillRect l="-996" r="-996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nível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Terceiro nível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Quarto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nível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69076A-81E9-4C5A-B8DF-CFDFD5E281E4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ção">
    <p:bg>
      <p:bgPr>
        <a:blipFill rotWithShape="0">
          <a:blip r:embed="rId2"/>
          <a:stretch>
            <a:fillRect l="-996" r="-996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Clique para editar o título Mestre</a:t>
            </a:r>
            <a:endParaRPr lang="pt-BR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t-BR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Clique para editar os estilos de texto Mestres</a:t>
            </a:r>
            <a:endParaRPr lang="pt-B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941623-075E-438A-811B-A912FA920DC3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0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0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Imagem 1"/>
          <p:cNvPicPr/>
          <p:nvPr/>
        </p:nvPicPr>
        <p:blipFill>
          <a:blip r:embed="rId1"/>
          <a:stretch/>
        </p:blipFill>
        <p:spPr>
          <a:xfrm>
            <a:off x="-40320" y="0"/>
            <a:ext cx="12270600" cy="690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CaixaDeTexto 2"/>
          <p:cNvSpPr/>
          <p:nvPr/>
        </p:nvSpPr>
        <p:spPr>
          <a:xfrm>
            <a:off x="8097480" y="997560"/>
            <a:ext cx="3551040" cy="10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32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INSAN Grave no Ceará</a:t>
            </a:r>
            <a:endParaRPr lang="pt-B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CaixaDeTexto 4"/>
          <p:cNvSpPr/>
          <p:nvPr/>
        </p:nvSpPr>
        <p:spPr>
          <a:xfrm>
            <a:off x="7867080" y="2820240"/>
            <a:ext cx="40122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Kanit"/>
              </a:rPr>
              <a:t>Modelos de previsão a partir de dados do CadÚnico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Imagem 7"/>
          <p:cNvPicPr/>
          <p:nvPr/>
        </p:nvPicPr>
        <p:blipFill>
          <a:blip r:embed="rId2"/>
          <a:stretch/>
        </p:blipFill>
        <p:spPr>
          <a:xfrm>
            <a:off x="695160" y="2619000"/>
            <a:ext cx="6548760" cy="84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CaixaDeTexto 1"/>
          <p:cNvSpPr/>
          <p:nvPr/>
        </p:nvSpPr>
        <p:spPr>
          <a:xfrm>
            <a:off x="7867080" y="4155480"/>
            <a:ext cx="4012200" cy="10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Kanit"/>
              </a:rPr>
              <a:t>Jimmy Oliveira – Analista</a:t>
            </a:r>
            <a:br>
              <a:rPr sz="1600"/>
            </a:b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Kanit"/>
              </a:rPr>
              <a:t>João Victor Batista – Assessor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Kanit"/>
              </a:rPr>
              <a:t>Junho de 2026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CaixaDeTexto 3"/>
          <p:cNvSpPr/>
          <p:nvPr/>
        </p:nvSpPr>
        <p:spPr>
          <a:xfrm>
            <a:off x="7983720" y="5362200"/>
            <a:ext cx="4012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>
            <a:fillRect l="-996" r="-996"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aixaDeTexto 5"/>
          <p:cNvSpPr/>
          <p:nvPr/>
        </p:nvSpPr>
        <p:spPr>
          <a:xfrm>
            <a:off x="903240" y="1455840"/>
            <a:ext cx="10384560" cy="36396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OBJETIVO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CaixaDeTexto 6"/>
          <p:cNvSpPr/>
          <p:nvPr/>
        </p:nvSpPr>
        <p:spPr>
          <a:xfrm>
            <a:off x="903240" y="2573280"/>
            <a:ext cx="10384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5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Maitree"/>
              </a:rPr>
              <a:t>Qual é o tamanho do impacto do Cartão Ceará Sem Fome na probabilidade de seus beneficiários estarem  em Insegurança Alimentar e Nutricional Grave?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CaixaDeTexto 5"/>
          <p:cNvSpPr/>
          <p:nvPr/>
        </p:nvSpPr>
        <p:spPr>
          <a:xfrm>
            <a:off x="903240" y="936360"/>
            <a:ext cx="10384560" cy="36396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FUNDAMENTAÇÃO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8" name=""/>
          <p:cNvPicPr/>
          <p:nvPr/>
        </p:nvPicPr>
        <p:blipFill>
          <a:blip r:embed="rId1"/>
          <a:stretch/>
        </p:blipFill>
        <p:spPr>
          <a:xfrm>
            <a:off x="1691280" y="1440000"/>
            <a:ext cx="8928360" cy="486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"/>
          <p:cNvSpPr/>
          <p:nvPr/>
        </p:nvSpPr>
        <p:spPr>
          <a:xfrm flipV="1">
            <a:off x="2376000" y="5507280"/>
            <a:ext cx="1079640" cy="179640"/>
          </a:xfrm>
          <a:prstGeom prst="rect">
            <a:avLst/>
          </a:prstGeom>
          <a:solidFill>
            <a:srgbClr val="d6e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 flipV="1">
            <a:off x="6264000" y="3815280"/>
            <a:ext cx="539640" cy="179640"/>
          </a:xfrm>
          <a:prstGeom prst="rect">
            <a:avLst/>
          </a:prstGeom>
          <a:solidFill>
            <a:srgbClr val="d6ea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CaixaDeTexto 7"/>
          <p:cNvSpPr/>
          <p:nvPr/>
        </p:nvSpPr>
        <p:spPr>
          <a:xfrm>
            <a:off x="903240" y="936360"/>
            <a:ext cx="10384560" cy="36396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FUNDAMENTAÇÃO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CaixaDeTexto 11"/>
          <p:cNvSpPr/>
          <p:nvPr/>
        </p:nvSpPr>
        <p:spPr>
          <a:xfrm>
            <a:off x="1771200" y="1370520"/>
            <a:ext cx="86670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f9200"/>
                </a:solidFill>
                <a:effectLst/>
                <a:uFillTx/>
                <a:latin typeface="Kanit"/>
              </a:rPr>
              <a:t>CADINSAN, do MDS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32000" y="1832760"/>
            <a:ext cx="11358000" cy="40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Cenário A: A Realidade (Com o Benefício)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O Cadinsan olha para a família hoje. Ela tem a renda do seu trabalho (se houver) + o dinheiro do Bolsa Família. Com esse valor total, o modelo roda (aquele que explicamos antes) e calcula o risco dessa família estar em insegurança alimentar grave.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600" b="1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Cenário B: A Simulação (Sem o Benefício)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Aqui vem o exercício de inteligência: o sistema "apaga" o Bolsa Família da conta por um momento. Ele calcula a renda da família apenas com o que ela ganha por conta própria. Com essa renda muito menor, o sistema roda o modelo novamente.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pt-B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CaixaDeTexto 10"/>
          <p:cNvSpPr/>
          <p:nvPr/>
        </p:nvSpPr>
        <p:spPr>
          <a:xfrm>
            <a:off x="903240" y="936360"/>
            <a:ext cx="10384560" cy="36396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FUNDAMENTAÇÃO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CaixaDeTexto 12"/>
          <p:cNvSpPr/>
          <p:nvPr/>
        </p:nvSpPr>
        <p:spPr>
          <a:xfrm>
            <a:off x="1771200" y="1370520"/>
            <a:ext cx="86670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0f9200"/>
                </a:solidFill>
                <a:effectLst/>
                <a:uFillTx/>
                <a:latin typeface="Kanit"/>
              </a:rPr>
              <a:t>CADINSAN, do MDS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"/>
          <p:cNvGraphicFramePr/>
          <p:nvPr/>
        </p:nvGraphicFramePr>
        <p:xfrm>
          <a:off x="786240" y="2104920"/>
          <a:ext cx="10619640" cy="3728880"/>
        </p:xfrm>
        <a:graphic>
          <a:graphicData uri="http://schemas.openxmlformats.org/drawingml/2006/table">
            <a:tbl>
              <a:tblPr/>
              <a:tblGrid>
                <a:gridCol w="1549800"/>
                <a:gridCol w="1238040"/>
                <a:gridCol w="1237680"/>
                <a:gridCol w="1377360"/>
                <a:gridCol w="1238040"/>
                <a:gridCol w="1238040"/>
                <a:gridCol w="1500840"/>
                <a:gridCol w="1240200"/>
              </a:tblGrid>
              <a:tr h="151776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Famílias no CadÚnico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Famílias em IA grave sem benefícios sociais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Proporção sem benefícios sociais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Famílias em IA grave com benefícios sociais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Proporção com benefícios sociais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Diferença em pontos percentuais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Taxa de redução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86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Nordeste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8.477.889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2.831.818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33,4%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1.150.119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13,6%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20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59%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86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Norte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2.303.159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1.598.546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69,4%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544.308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23,6%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46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66%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86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Centro-oeste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1.511.193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298.604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19,8%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160.746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10,6%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9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46%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86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Sudeste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6.598.161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1.459.204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22,1%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728.611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11,0%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11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50%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864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Sul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1.894.714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153.379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8,1%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80.469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4,2%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48%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79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Brasil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20.785.116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6.341.551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30,5%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2.664.253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12,8%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18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58%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CaixaDeTexto 5"/>
          <p:cNvSpPr/>
          <p:nvPr/>
        </p:nvSpPr>
        <p:spPr>
          <a:xfrm>
            <a:off x="903240" y="946080"/>
            <a:ext cx="10384560" cy="36396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METODOLOGIA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3041640" y="2774880"/>
            <a:ext cx="6108120" cy="13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Treinar um modelo preditivo com dados da PNAD Contínua e aplicar os estimadores encontrados na população do CadÚnico beneficiada com o Cartão Ceará Sem Fome. O resultado será uma previsão do domicílio com aquelas características estar ou não em INSAN Grave. 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>
            <a:off x="3071520" y="2340000"/>
            <a:ext cx="6108120" cy="21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PNAD Contínua 2024, 4º trimestre: Informações socioeconômicas e sobre a segurança alimentar dos domicílio. Utilizou-se somente informações do Ceará.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CadÚnico: dados de março de 2026.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Beneficiários do Cartão Ceará Sem Fome: Abril de 2025. Mesma base utilizada na pesquisa de satisfação da CGE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620000" y="1586520"/>
            <a:ext cx="1018440" cy="4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DADOS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1620000" y="608760"/>
            <a:ext cx="1018440" cy="4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DADOS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1620000" y="1008000"/>
            <a:ext cx="8476560" cy="4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PERFIL DA RENDA NA BASE DE DADOS: ANTES DO VALOR DO CARTÃO CSF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"/>
          <p:cNvPicPr/>
          <p:nvPr/>
        </p:nvPicPr>
        <p:blipFill>
          <a:blip r:embed="rId1"/>
          <a:stretch/>
        </p:blipFill>
        <p:spPr>
          <a:xfrm>
            <a:off x="2438280" y="1359000"/>
            <a:ext cx="731484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"/>
          <p:cNvSpPr/>
          <p:nvPr/>
        </p:nvSpPr>
        <p:spPr>
          <a:xfrm>
            <a:off x="1620000" y="608760"/>
            <a:ext cx="1018440" cy="4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DADOS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1620000" y="1008000"/>
            <a:ext cx="8541360" cy="4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Kanit"/>
                <a:ea typeface="Microsoft YaHei"/>
              </a:rPr>
              <a:t>PERFIL DA RENDA NA BASE DE DADOS: DEPOIS DO VALOR DO CARTÃO CSF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"/>
          <p:cNvPicPr/>
          <p:nvPr/>
        </p:nvPicPr>
        <p:blipFill>
          <a:blip r:embed="rId1"/>
          <a:stretch/>
        </p:blipFill>
        <p:spPr>
          <a:xfrm>
            <a:off x="2438280" y="1359000"/>
            <a:ext cx="7314840" cy="4571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"/>
          <p:cNvSpPr/>
          <p:nvPr/>
        </p:nvSpPr>
        <p:spPr>
          <a:xfrm>
            <a:off x="1409760" y="608760"/>
            <a:ext cx="2909880" cy="4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VARIÁVEIS UTILIZADAS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8" name=""/>
          <p:cNvGraphicFramePr/>
          <p:nvPr/>
        </p:nvGraphicFramePr>
        <p:xfrm>
          <a:off x="1057680" y="1315080"/>
          <a:ext cx="9816840" cy="3735720"/>
        </p:xfrm>
        <a:graphic>
          <a:graphicData uri="http://schemas.openxmlformats.org/drawingml/2006/table">
            <a:tbl>
              <a:tblPr/>
              <a:tblGrid>
                <a:gridCol w="4908600"/>
                <a:gridCol w="4908600"/>
              </a:tblGrid>
              <a:tr h="45036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Indicador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Variável na PNAD Contínua 2024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Renda domiciliar per capita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elaborada a partir da variável VDI5008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Sexo da pessoa de referência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V2007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Cor/raça da pessoa de referência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V2010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Presença de pessoa menor de 6 anos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elaborada a partir da variável V2009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28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Nível educacional da pessoa de referência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elaborada a partir da variável VD3004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832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Situação do domicílio (urbano/rural)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V1022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28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Presença de trabalhador da agricultura familiar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elaborada a partir da variável VD4007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16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Dummy de região metropolitana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elaborada a partir da variável Estrato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CaixaDeTexto 5"/>
          <p:cNvSpPr/>
          <p:nvPr/>
        </p:nvSpPr>
        <p:spPr>
          <a:xfrm>
            <a:off x="903600" y="3140280"/>
            <a:ext cx="10384560" cy="57744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3200" b="1" u="none" strike="noStrike">
                <a:solidFill>
                  <a:schemeClr val="lt1"/>
                </a:solidFill>
                <a:effectLst/>
                <a:uFillTx/>
                <a:latin typeface="Kanit"/>
                <a:ea typeface="Verdana"/>
              </a:rPr>
              <a:t>RESULTADOS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0" name=""/>
          <p:cNvGraphicFramePr/>
          <p:nvPr/>
        </p:nvGraphicFramePr>
        <p:xfrm>
          <a:off x="474480" y="1800000"/>
          <a:ext cx="11246760" cy="3059640"/>
        </p:xfrm>
        <a:graphic>
          <a:graphicData uri="http://schemas.openxmlformats.org/drawingml/2006/table">
            <a:tbl>
              <a:tblPr/>
              <a:tblGrid>
                <a:gridCol w="1469520"/>
                <a:gridCol w="1174320"/>
                <a:gridCol w="1173960"/>
                <a:gridCol w="1306080"/>
                <a:gridCol w="1174320"/>
                <a:gridCol w="1174320"/>
                <a:gridCol w="1423440"/>
                <a:gridCol w="1174320"/>
                <a:gridCol w="1176840"/>
              </a:tblGrid>
              <a:tr h="1047240">
                <a:tc>
                  <a:txBody>
                    <a:bodyPr lIns="36000" rIns="36000" tIns="36000" bIns="36000" anchor="t">
                      <a:noAutofit/>
                    </a:bodyPr>
                    <a:p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Famílias beneficiárias do Cartão CSF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Familias em IA grave sem o Cartão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Proporção sem Cartão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Familias em IA grave com o Cartão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Proporção com Cartão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Diferença em pontos percentuais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Taxa de redução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pt-BR" sz="16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Sensibilidade do modelo</a:t>
                      </a:r>
                      <a:endParaRPr lang="pt-BR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21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Ceara (modelo 1)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47519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36764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77,4%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31021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65,3%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12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1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16%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59,22%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21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Ceara (modelo 2)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47519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35062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73,8%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22416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47,2%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27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1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36%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49,51%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21000">
                <a:tc>
                  <a:txBody>
                    <a:bodyPr lIns="36000" rIns="36000" tIns="36000" b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Ceara (modelo 3)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47519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37764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79,5%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26515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55,8%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24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1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30%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pt-BR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Maitree"/>
                        </a:rPr>
                        <a:t>51,46%</a:t>
                      </a:r>
                      <a:endParaRPr lang="pt-BR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1" name=""/>
          <p:cNvSpPr txBox="1"/>
          <p:nvPr/>
        </p:nvSpPr>
        <p:spPr>
          <a:xfrm>
            <a:off x="468000" y="5040000"/>
            <a:ext cx="11160000" cy="761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Nota: Importante ressaltar que mesmo com recebimento do Bolsa Família, mais de 70% das famílias aptas a receber o Cartão continuam em Insan Grave.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Maitree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aixaDeTexto 5"/>
          <p:cNvSpPr/>
          <p:nvPr/>
        </p:nvSpPr>
        <p:spPr>
          <a:xfrm>
            <a:off x="1080000" y="1976040"/>
            <a:ext cx="10384560" cy="36396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Verdana"/>
                <a:ea typeface="Verdana"/>
              </a:rPr>
              <a:t>PRINCIPAIS CONCLUSÕES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900000" y="2752560"/>
            <a:ext cx="10439640" cy="13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Os melhores modelos encontrados a partir das variáveis selecionadas, que possuem sensibilidade acima de 50%, identificam que entre 12% e 27% dos domicílios beneficiados podem ter saído da situação de insegurança alimentar grave.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aixaDeTexto 8"/>
          <p:cNvSpPr/>
          <p:nvPr/>
        </p:nvSpPr>
        <p:spPr>
          <a:xfrm>
            <a:off x="1080000" y="1976040"/>
            <a:ext cx="10384560" cy="36396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Verdana"/>
                <a:ea typeface="Verdana"/>
              </a:rPr>
              <a:t>LIMITAÇÕES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900000" y="2752560"/>
            <a:ext cx="1043964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Os números apresentados são uma medição da probabilidade de Insan, por isso devem ser interpretados com cautela. O presente trabalho é um exercício estatístico a partir de dados administrativos do IBGE e do CadÚnico e tem muito a ganhar caso haja um acompanhamento e coleta primária de dados com os próprios beneficiários do Cartão CSF.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CaixaDeTexto 9"/>
          <p:cNvSpPr/>
          <p:nvPr/>
        </p:nvSpPr>
        <p:spPr>
          <a:xfrm>
            <a:off x="1080000" y="1976040"/>
            <a:ext cx="10384560" cy="363960"/>
          </a:xfrm>
          <a:prstGeom prst="rect">
            <a:avLst/>
          </a:prstGeom>
          <a:solidFill>
            <a:srgbClr val="0f9200"/>
          </a:solidFill>
          <a:ln w="0">
            <a:noFill/>
          </a:ln>
          <a:effectLst>
            <a:outerShdw algn="ctr" blurRad="57240" dir="5400000" dist="19080" rotWithShape="0">
              <a:srgbClr val="000000">
                <a:alpha val="63000"/>
              </a:srgbClr>
            </a:outerShdw>
          </a:effectLst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Verdana"/>
                <a:ea typeface="Verdana"/>
              </a:rPr>
              <a:t>PRÓXIMOS PASSOS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900000" y="2752560"/>
            <a:ext cx="10439640" cy="13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Outros exercícios podem ser realizados, como calcular diferentes valores para o cartão e ver como eles alteram a probabilidade de Insan grave. 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/>
          <p:nvPr/>
        </p:nvSpPr>
        <p:spPr>
          <a:xfrm>
            <a:off x="1620000" y="2340000"/>
            <a:ext cx="9179640" cy="13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pt-BR" sz="16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BRASIL, Ministério do Desenvolvimento e Assistência Social, Família e Combate à Fome. CADINSAN: indicador de risco de insegurança alimentar municipal a partir dos dados do cadunico. Brasilía, 2025. Disponível em https://www.gov.br/mds/pt-br/Sisan/monitoramento-da-san/Relatorio_CadINSAN.pdf Acesso em jan/2026. 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1620000" y="1586520"/>
            <a:ext cx="1780560" cy="4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pt-BR" sz="2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REFERÊNCIAS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aixaDeTexto 2"/>
          <p:cNvSpPr/>
          <p:nvPr/>
        </p:nvSpPr>
        <p:spPr>
          <a:xfrm>
            <a:off x="1952640" y="2180520"/>
            <a:ext cx="8667000" cy="23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000" b="1" u="none" strike="noStrike">
                <a:solidFill>
                  <a:srgbClr val="000000"/>
                </a:solidFill>
                <a:effectLst/>
                <a:uFillTx/>
                <a:latin typeface="Kanit"/>
              </a:rPr>
              <a:t>Obrigado</a:t>
            </a:r>
            <a:endParaRPr lang="pt-B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João Victor Batista Lopes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Assessor Técnico | DISOC – IPECE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Maitree"/>
              </a:rPr>
              <a:t>Dados abertos · Código aberto · Ciência reprodutível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444</TotalTime>
  <Application>LibreOffice/25.8.6.2$Windows_X86_64 LibreOffice_project/b4b39682cd9868fa725bc664aff94278d315bd04</Application>
  <AppVersion>15.0000</AppVersion>
  <Words>1007</Words>
  <Paragraphs>87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2021-04-17T17:42:16Z</dcterms:created>
  <dc:creator>Nertan Crevel</dc:creator>
  <dc:description/>
  <dc:language>pt-BR</dc:language>
  <cp:lastModifiedBy/>
  <dcterms:modified xsi:type="dcterms:W3CDTF">2026-06-18T14:46:37Z</dcterms:modified>
  <cp:revision>103</cp:revision>
  <dc:subject/>
  <dc:title>Apresentação do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ActionId">
    <vt:lpwstr>7a3ce1cc-ec6a-4b9c-ac8b-31d493e525c2</vt:lpwstr>
  </property>
  <property fmtid="{D5CDD505-2E9C-101B-9397-08002B2CF9AE}" pid="3" name="MSIP_Label_defa4170-0d19-0005-0004-bc88714345d2_ContentBits">
    <vt:lpwstr>0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Method">
    <vt:lpwstr>Standard</vt:lpwstr>
  </property>
  <property fmtid="{D5CDD505-2E9C-101B-9397-08002B2CF9AE}" pid="6" name="MSIP_Label_defa4170-0d19-0005-0004-bc88714345d2_Name">
    <vt:lpwstr>defa4170-0d19-0005-0004-bc88714345d2</vt:lpwstr>
  </property>
  <property fmtid="{D5CDD505-2E9C-101B-9397-08002B2CF9AE}" pid="7" name="MSIP_Label_defa4170-0d19-0005-0004-bc88714345d2_SetDate">
    <vt:lpwstr>2024-06-04T16:55:25Z</vt:lpwstr>
  </property>
  <property fmtid="{D5CDD505-2E9C-101B-9397-08002B2CF9AE}" pid="8" name="MSIP_Label_defa4170-0d19-0005-0004-bc88714345d2_SiteId">
    <vt:lpwstr>a281075a-ef05-4955-af75-185e0173842a</vt:lpwstr>
  </property>
  <property fmtid="{D5CDD505-2E9C-101B-9397-08002B2CF9AE}" pid="9" name="PresentationFormat">
    <vt:lpwstr>Widescreen</vt:lpwstr>
  </property>
  <property fmtid="{D5CDD505-2E9C-101B-9397-08002B2CF9AE}" pid="10" name="Slides">
    <vt:i4>17</vt:i4>
  </property>
</Properties>
</file>
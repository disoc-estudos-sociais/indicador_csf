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blipFill rotWithShape="0">
          <a:blip r:embed="rId2"/>
          <a:stretch>
            <a:fillRect l="-992" r="-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5D42EF-C5AA-4F37-A823-C0A01E9EAD6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blipFill rotWithShape="0">
          <a:blip r:embed="rId2"/>
          <a:stretch>
            <a:fillRect l="-992" r="-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BF38B2-0B6A-4326-A2BD-FAE0F826F58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blipFill rotWithShape="0">
          <a:blip r:embed="rId2"/>
          <a:stretch>
            <a:fillRect l="-992" r="-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120" cy="159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040" cy="487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120" cy="38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A55E9B-66EE-4E0D-9559-A0EC67483A7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blipFill rotWithShape="0">
          <a:blip r:embed="rId2"/>
          <a:stretch>
            <a:fillRect l="-992" r="-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120" cy="159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040" cy="487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120" cy="38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671D41-3135-4D46-A120-182EA513F9E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blipFill rotWithShape="0">
          <a:blip r:embed="rId2"/>
          <a:stretch>
            <a:fillRect l="-992" r="-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A7B94E-2F54-4D4B-AA2F-8A2EFFF0FB6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blipFill rotWithShape="0">
          <a:blip r:embed="rId2"/>
          <a:stretch>
            <a:fillRect l="-992" r="-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345646-E3F5-4A48-8F37-5FDCF2440F9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bg>
      <p:bgPr>
        <a:blipFill rotWithShape="0">
          <a:blip r:embed="rId2"/>
          <a:stretch>
            <a:fillRect l="-992" r="-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6920" cy="58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080" cy="58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8EB4CD-1EA1-4C96-95A6-D5B68E0CFBE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blipFill rotWithShape="0">
          <a:blip r:embed="rId2"/>
          <a:stretch>
            <a:fillRect l="-992" r="-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351DBC-793F-4425-AA62-BBE4CE0E242F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blipFill rotWithShape="0">
          <a:blip r:embed="rId2"/>
          <a:stretch>
            <a:fillRect l="-992" r="-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440" cy="285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440" cy="149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6D3B82-D9CE-45C3-9D69-C6C8A34E22B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blipFill rotWithShape="0">
          <a:blip r:embed="rId2"/>
          <a:stretch>
            <a:fillRect l="-992" r="-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9320" cy="434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9320" cy="434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625D77-BFD7-4140-B802-71A08418CE7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blipFill rotWithShape="0">
          <a:blip r:embed="rId2"/>
          <a:stretch>
            <a:fillRect l="-992" r="-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560" cy="82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560" cy="368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120" cy="82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120" cy="368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8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36BF69-1FF7-4E68-826E-50A5FBABCAA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m 1"/>
          <p:cNvPicPr/>
          <p:nvPr/>
        </p:nvPicPr>
        <p:blipFill>
          <a:blip r:embed="rId1"/>
          <a:stretch/>
        </p:blipFill>
        <p:spPr>
          <a:xfrm>
            <a:off x="-40320" y="0"/>
            <a:ext cx="12269520" cy="69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CaixaDeTexto 2"/>
          <p:cNvSpPr/>
          <p:nvPr/>
        </p:nvSpPr>
        <p:spPr>
          <a:xfrm>
            <a:off x="8097480" y="997560"/>
            <a:ext cx="354996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3200" b="1" u="none" strike="noStrike">
                <a:solidFill>
                  <a:schemeClr val="lt1"/>
                </a:solidFill>
                <a:effectLst/>
                <a:uFillTx/>
                <a:latin typeface="Kanit"/>
                <a:ea typeface="Verdana"/>
              </a:rPr>
              <a:t>INSAN Grave no Ceará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CaixaDeTexto 4"/>
          <p:cNvSpPr/>
          <p:nvPr/>
        </p:nvSpPr>
        <p:spPr>
          <a:xfrm>
            <a:off x="7867080" y="2820240"/>
            <a:ext cx="40111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Kanit"/>
              </a:rPr>
              <a:t>Modelos de previsão a partir de dados do CadÚnico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m 7"/>
          <p:cNvPicPr/>
          <p:nvPr/>
        </p:nvPicPr>
        <p:blipFill>
          <a:blip r:embed="rId2"/>
          <a:stretch/>
        </p:blipFill>
        <p:spPr>
          <a:xfrm>
            <a:off x="695160" y="2619000"/>
            <a:ext cx="6547680" cy="84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CaixaDeTexto 1"/>
          <p:cNvSpPr/>
          <p:nvPr/>
        </p:nvSpPr>
        <p:spPr>
          <a:xfrm>
            <a:off x="7867080" y="4155480"/>
            <a:ext cx="401112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Kanit"/>
              </a:rPr>
              <a:t>Jimmy Oliveira – Analista</a:t>
            </a:r>
            <a:br>
              <a:rPr sz="1600"/>
            </a:b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Kanit"/>
              </a:rPr>
              <a:t>João Victor Batista – Assessor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Kanit"/>
              </a:rPr>
              <a:t>Junho de 2026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aixaDeTexto 3"/>
          <p:cNvSpPr/>
          <p:nvPr/>
        </p:nvSpPr>
        <p:spPr>
          <a:xfrm>
            <a:off x="7983720" y="5362200"/>
            <a:ext cx="401112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l="-992" r="-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aixaDeTexto 5"/>
          <p:cNvSpPr/>
          <p:nvPr/>
        </p:nvSpPr>
        <p:spPr>
          <a:xfrm>
            <a:off x="903240" y="1455840"/>
            <a:ext cx="10383480" cy="363960"/>
          </a:xfrm>
          <a:prstGeom prst="rect">
            <a:avLst/>
          </a:prstGeom>
          <a:solidFill>
            <a:srgbClr val="0f9200"/>
          </a:soli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Kanit"/>
                <a:ea typeface="Verdana"/>
              </a:rPr>
              <a:t>OBJETIVO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CaixaDeTexto 6"/>
          <p:cNvSpPr/>
          <p:nvPr/>
        </p:nvSpPr>
        <p:spPr>
          <a:xfrm>
            <a:off x="903240" y="2573280"/>
            <a:ext cx="103834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5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Maitree"/>
              </a:rPr>
              <a:t>Qual é o tamanho do impacto do Cartão Ceará Sem Fome no 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Maitree"/>
              </a:rPr>
              <a:t>risco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Maitree"/>
              </a:rPr>
              <a:t> de seus beneficiários estarem  em Insegurança Alimentar e Nutricional Grave?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aixaDeTexto 5"/>
          <p:cNvSpPr/>
          <p:nvPr/>
        </p:nvSpPr>
        <p:spPr>
          <a:xfrm>
            <a:off x="903240" y="936360"/>
            <a:ext cx="10383480" cy="363960"/>
          </a:xfrm>
          <a:prstGeom prst="rect">
            <a:avLst/>
          </a:prstGeom>
          <a:solidFill>
            <a:srgbClr val="0f9200"/>
          </a:soli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Kanit"/>
                <a:ea typeface="Verdana"/>
              </a:rPr>
              <a:t>FUNDAMENTAÇÃO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"/>
          <p:cNvPicPr/>
          <p:nvPr/>
        </p:nvPicPr>
        <p:blipFill>
          <a:blip r:embed="rId1"/>
          <a:stretch/>
        </p:blipFill>
        <p:spPr>
          <a:xfrm>
            <a:off x="1691280" y="1440000"/>
            <a:ext cx="8927280" cy="486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"/>
          <p:cNvSpPr/>
          <p:nvPr/>
        </p:nvSpPr>
        <p:spPr>
          <a:xfrm flipV="1">
            <a:off x="2376000" y="5506560"/>
            <a:ext cx="1078560" cy="178560"/>
          </a:xfrm>
          <a:prstGeom prst="rect">
            <a:avLst/>
          </a:prstGeom>
          <a:solidFill>
            <a:srgbClr val="d6e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 flipV="1">
            <a:off x="6264000" y="3814560"/>
            <a:ext cx="538560" cy="178560"/>
          </a:xfrm>
          <a:prstGeom prst="rect">
            <a:avLst/>
          </a:prstGeom>
          <a:solidFill>
            <a:srgbClr val="d6e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aixaDeTexto 7"/>
          <p:cNvSpPr/>
          <p:nvPr/>
        </p:nvSpPr>
        <p:spPr>
          <a:xfrm>
            <a:off x="903240" y="936360"/>
            <a:ext cx="10383480" cy="363960"/>
          </a:xfrm>
          <a:prstGeom prst="rect">
            <a:avLst/>
          </a:prstGeom>
          <a:solidFill>
            <a:srgbClr val="0f9200"/>
          </a:soli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Kanit"/>
                <a:ea typeface="Verdana"/>
              </a:rPr>
              <a:t>FUNDAMENTAÇÃO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CaixaDeTexto 11"/>
          <p:cNvSpPr/>
          <p:nvPr/>
        </p:nvSpPr>
        <p:spPr>
          <a:xfrm>
            <a:off x="1771200" y="1370520"/>
            <a:ext cx="8665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0f9200"/>
                </a:solidFill>
                <a:effectLst/>
                <a:uFillTx/>
                <a:latin typeface="Kanit"/>
              </a:rPr>
              <a:t>CADINSAN, do MDS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32000" y="1832760"/>
            <a:ext cx="11356920" cy="40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Cenário A: A Realidade (Com o Benefício)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O Cadinsan olha para a família hoje. Ela tem a renda do seu trabalho (se houver) + o dinheiro do Bolsa Família. Com esse valor total, o modelo roda (aquele que explicamos antes) e calcula o risco dessa família estar em insegurança alimentar grave.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Cenário B: A Simulação (Sem o Benefício)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Aqui vem o exercício de inteligência: o sistema "apaga" o Bolsa Família da conta por um momento. Ele calcula a renda da família apenas com o que ela ganha por conta própria. Com essa renda muito menor, o sistema roda o modelo novamente.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aixaDeTexto 10"/>
          <p:cNvSpPr/>
          <p:nvPr/>
        </p:nvSpPr>
        <p:spPr>
          <a:xfrm>
            <a:off x="903240" y="936360"/>
            <a:ext cx="10383480" cy="363960"/>
          </a:xfrm>
          <a:prstGeom prst="rect">
            <a:avLst/>
          </a:prstGeom>
          <a:solidFill>
            <a:srgbClr val="0f9200"/>
          </a:soli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Kanit"/>
                <a:ea typeface="Verdana"/>
              </a:rPr>
              <a:t>FUNDAMENTAÇÃO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CaixaDeTexto 12"/>
          <p:cNvSpPr/>
          <p:nvPr/>
        </p:nvSpPr>
        <p:spPr>
          <a:xfrm>
            <a:off x="1771200" y="1370520"/>
            <a:ext cx="8665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0f9200"/>
                </a:solidFill>
                <a:effectLst/>
                <a:uFillTx/>
                <a:latin typeface="Kanit"/>
              </a:rPr>
              <a:t>CADINSAN, do MDS: dados de 2023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"/>
          <p:cNvGraphicFramePr/>
          <p:nvPr/>
        </p:nvGraphicFramePr>
        <p:xfrm>
          <a:off x="786240" y="2104920"/>
          <a:ext cx="10619640" cy="3745800"/>
        </p:xfrm>
        <a:graphic>
          <a:graphicData uri="http://schemas.openxmlformats.org/drawingml/2006/table">
            <a:tbl>
              <a:tblPr/>
              <a:tblGrid>
                <a:gridCol w="1549800"/>
                <a:gridCol w="1238040"/>
                <a:gridCol w="1237680"/>
                <a:gridCol w="1377360"/>
                <a:gridCol w="1238040"/>
                <a:gridCol w="1238040"/>
                <a:gridCol w="1500840"/>
                <a:gridCol w="1240200"/>
              </a:tblGrid>
              <a:tr h="151776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Famílias no CadÚnico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Famílias em IA grave sem benefícios sociais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Proporção de famílias em IA grave sem benefícios sociais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Famílias em IA grave com benefícios sociais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  <a:ea typeface="Microsoft YaHei"/>
                        </a:rPr>
                        <a:t>Proporção de famílias em IA grave com benefícios sociais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Diferença em pontos percentuais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Taxa de redução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86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Nordeste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8.477.889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2.831.818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33,4%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1.150.119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13,6%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20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59%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86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Norte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2.303.159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1.598.546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69,4%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544.308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23,6%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46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66%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86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Centro-oeste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1.511.193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298.604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19,8%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160.746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10,6%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9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46%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86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Sudeste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6.598.161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1.459.204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22,1%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728.611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11,0%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11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50%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86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Sul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1.894.714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153.379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8,1%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80.469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4,2%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4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48%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79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Brasil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20.785.116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6.341.551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30,5%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2.664.253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12,8%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18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58%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aixaDeTexto 5"/>
          <p:cNvSpPr/>
          <p:nvPr/>
        </p:nvSpPr>
        <p:spPr>
          <a:xfrm>
            <a:off x="903240" y="946080"/>
            <a:ext cx="10383480" cy="455400"/>
          </a:xfrm>
          <a:prstGeom prst="rect">
            <a:avLst/>
          </a:prstGeom>
          <a:solidFill>
            <a:srgbClr val="0f9200"/>
          </a:soli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Kanit"/>
                <a:ea typeface="Verdana"/>
              </a:rPr>
              <a:t>METODOLOGIA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041640" y="2774880"/>
            <a:ext cx="610704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Treinar um modelo preditivo com dados da PNAD Contínua e aplicar os estimadores encontrados na população do CadÚnico beneficiada com o Cartão Ceará Sem Fome. O resultado será uma previsão do domicílio com aquelas características estar ou não em INSAN Grave.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3071520" y="2340000"/>
            <a:ext cx="610704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PNAD Contínua 2024, 4º trimestre: Informações socioeconômicas e sobre a segurança alimentar dos domicílio. Utilizou-se somente informações do Ceará.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CadÚnico: dados de março de 2026.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Beneficiários do Cartão Ceará Sem Fome: Abril de 2025. Mesma base utilizada na pesquisa de satisfação da CGE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620000" y="1586520"/>
            <a:ext cx="10188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Kanit"/>
              </a:rPr>
              <a:t>DADOS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605880" y="1457640"/>
            <a:ext cx="10979640" cy="39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Ser beneficiária do Programa Bolsa Família, com renda per capita de até R$ 218,00, já incluídos nesse cálculo os valores recebidos do próprio Bolsa Família, excetuando-se o Benefício Variável Nutriz (BVN);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Ter como responsável familiar no CadÚnico, preferencialmente, uma pessoa do sexo feminino;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Ter, preferencialmente, como responsável familiar pessoa com baixa escolaridade (sem ensino fundamental completo);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Ter, em sua composição, ao menos uma criança ou adolescente de até 14 anos; e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Não estar com o benefício do Bolsa Família bloqueado ou suspenso.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620000" y="900000"/>
            <a:ext cx="58276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Kanit"/>
              </a:rPr>
              <a:t>CRITÉRIOS DAS FAMÍLIAS BENEFICIÁRIAS DO CSF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601920" y="720000"/>
            <a:ext cx="10180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Kanit"/>
              </a:rPr>
              <a:t>DADOS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"/>
          <p:cNvPicPr/>
          <p:nvPr/>
        </p:nvPicPr>
        <p:blipFill>
          <a:blip r:embed="rId1"/>
          <a:stretch/>
        </p:blipFill>
        <p:spPr>
          <a:xfrm>
            <a:off x="1955880" y="759600"/>
            <a:ext cx="8280000" cy="555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"/>
          <p:cNvSpPr/>
          <p:nvPr/>
        </p:nvSpPr>
        <p:spPr>
          <a:xfrm flipH="1">
            <a:off x="10080000" y="4320000"/>
            <a:ext cx="5400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 flipH="1">
            <a:off x="10080000" y="4572000"/>
            <a:ext cx="5400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0378800" y="3401640"/>
            <a:ext cx="1705320" cy="235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64,4% dos domicílios em IA Grave possuem renda até ½ s.m.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Maitree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>
            <a:off x="1620000" y="608760"/>
            <a:ext cx="10188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Kanit"/>
              </a:rPr>
              <a:t>DADOS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620000" y="1008000"/>
            <a:ext cx="8475480" cy="4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Kanit"/>
              </a:rPr>
              <a:t>PERFIL DA RENDA NA BASE DE DADOS: ANTES DO VALOR DO CARTÃO CSF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"/>
          <p:cNvPicPr/>
          <p:nvPr/>
        </p:nvPicPr>
        <p:blipFill>
          <a:blip r:embed="rId1"/>
          <a:stretch/>
        </p:blipFill>
        <p:spPr>
          <a:xfrm>
            <a:off x="2438280" y="1359000"/>
            <a:ext cx="7313760" cy="457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1620000" y="608760"/>
            <a:ext cx="10188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Kanit"/>
              </a:rPr>
              <a:t>DADOS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620000" y="1008000"/>
            <a:ext cx="8540280" cy="4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Kanit"/>
                <a:ea typeface="Microsoft YaHei"/>
              </a:rPr>
              <a:t>PERFIL DA RENDA NA BASE DE DADOS: DEPOIS DO VALOR DO CARTÃO CSF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"/>
          <p:cNvPicPr/>
          <p:nvPr/>
        </p:nvPicPr>
        <p:blipFill>
          <a:blip r:embed="rId1"/>
          <a:stretch/>
        </p:blipFill>
        <p:spPr>
          <a:xfrm>
            <a:off x="2438280" y="1359000"/>
            <a:ext cx="7313760" cy="457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1409760" y="608760"/>
            <a:ext cx="2908800" cy="4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Kanit"/>
              </a:rPr>
              <a:t>VARIÁVEIS UTILIZADAS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5" name=""/>
          <p:cNvGraphicFramePr/>
          <p:nvPr/>
        </p:nvGraphicFramePr>
        <p:xfrm>
          <a:off x="1057680" y="1315080"/>
          <a:ext cx="9816840" cy="3735720"/>
        </p:xfrm>
        <a:graphic>
          <a:graphicData uri="http://schemas.openxmlformats.org/drawingml/2006/table">
            <a:tbl>
              <a:tblPr/>
              <a:tblGrid>
                <a:gridCol w="4908600"/>
                <a:gridCol w="4908600"/>
              </a:tblGrid>
              <a:tr h="4503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Indicador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Variável na PNAD Contínua 2024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Renda domiciliar per capita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elaborada a partir da variável VDI5008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Sexo da pessoa de referência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V2007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Cor/raça da pessoa de referência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V2010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Presença de pessoa menor de 6 anos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elaborada a partir da variável V2009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2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Nível educacional da pessoa de referência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elaborada a partir da variável VD3004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Situação do domicílio (urbano/rural)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V1022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2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Presença de trabalhador da agricultura familiar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elaborada a partir da variável VD4007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Dummy de região metropolitana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elaborada a partir da variável Estrato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aixaDeTexto 5"/>
          <p:cNvSpPr/>
          <p:nvPr/>
        </p:nvSpPr>
        <p:spPr>
          <a:xfrm>
            <a:off x="903600" y="3140280"/>
            <a:ext cx="10383480" cy="577440"/>
          </a:xfrm>
          <a:prstGeom prst="rect">
            <a:avLst/>
          </a:prstGeom>
          <a:solidFill>
            <a:srgbClr val="0f9200"/>
          </a:soli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3200" b="1" u="none" strike="noStrike">
                <a:solidFill>
                  <a:schemeClr val="lt1"/>
                </a:solidFill>
                <a:effectLst/>
                <a:uFillTx/>
                <a:latin typeface="Kanit"/>
                <a:ea typeface="Verdana"/>
              </a:rPr>
              <a:t>RESULTADOS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"/>
          <p:cNvGraphicFramePr/>
          <p:nvPr/>
        </p:nvGraphicFramePr>
        <p:xfrm>
          <a:off x="1060920" y="2473200"/>
          <a:ext cx="10069920" cy="1911960"/>
        </p:xfrm>
        <a:graphic>
          <a:graphicData uri="http://schemas.openxmlformats.org/drawingml/2006/table">
            <a:tbl>
              <a:tblPr/>
              <a:tblGrid>
                <a:gridCol w="1469520"/>
                <a:gridCol w="1174320"/>
                <a:gridCol w="1173960"/>
                <a:gridCol w="1306080"/>
                <a:gridCol w="1174320"/>
                <a:gridCol w="1174320"/>
                <a:gridCol w="1423440"/>
                <a:gridCol w="1174320"/>
              </a:tblGrid>
              <a:tr h="10472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Famílias beneficiárias do Cartão CSF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Famílias em IA grave sem o Cartão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Proporção de famílias em IA grave sem Cartão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Famílias em IA grave com o Cartão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  <a:ea typeface="Microsoft YaHei"/>
                        </a:rPr>
                        <a:t>Proporção de famílias em IA grave com Cartão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Diferença em pontos percentuais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Taxa de redução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1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Ceará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47519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35062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73,8%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22416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47,2%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27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pt-BR" sz="1800" b="1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Maitree"/>
                        </a:rPr>
                        <a:t>36%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8" name=""/>
          <p:cNvSpPr/>
          <p:nvPr/>
        </p:nvSpPr>
        <p:spPr>
          <a:xfrm>
            <a:off x="468000" y="5040000"/>
            <a:ext cx="1115892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Nota: Importante ressaltar que mesmo com recebimento do Bolsa Família, mais de 70% das famílias aptas a receber o Cartão continuam em Insan Grave.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aixaDeTexto 5"/>
          <p:cNvSpPr/>
          <p:nvPr/>
        </p:nvSpPr>
        <p:spPr>
          <a:xfrm>
            <a:off x="1080000" y="1976040"/>
            <a:ext cx="10383480" cy="455400"/>
          </a:xfrm>
          <a:prstGeom prst="rect">
            <a:avLst/>
          </a:prstGeom>
          <a:solidFill>
            <a:srgbClr val="0f9200"/>
          </a:soli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PRINCIPAIS CONCLUSÕES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900000" y="2752560"/>
            <a:ext cx="10438560" cy="21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O programa consegue identificar corretamente os cidadãos que mais precisam, ou seja, tem uma boa focalização. Isso decorre do fato de capturar que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70%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 dos beneficiários ainda precisam sair da situação de fome mesmo recebendo Bolsa Família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  <a:ea typeface="Microsoft YaHei"/>
              </a:rPr>
              <a:t>O modelo encontrado a partir das variáveis selecionadas identifica que há redução de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36%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 de domicílios em risco de insegurança alimentar grave com o recebimento da renda complementar do cartão CSF.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aixaDeTexto 8"/>
          <p:cNvSpPr/>
          <p:nvPr/>
        </p:nvSpPr>
        <p:spPr>
          <a:xfrm>
            <a:off x="1080000" y="1976040"/>
            <a:ext cx="10383480" cy="455400"/>
          </a:xfrm>
          <a:prstGeom prst="rect">
            <a:avLst/>
          </a:prstGeom>
          <a:solidFill>
            <a:srgbClr val="0f9200"/>
          </a:soli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LIMITAÇÕES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900000" y="2752560"/>
            <a:ext cx="1043856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Os números apresentados são uma medição da probabilidade de Insan, por isso devem ser interpretados com cautela. O efeito encontrado é de variação no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risco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, que é diferente da variação efetiva na redução da fome dos beneficiários.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O presente trabalho é um exercício estatístico a partir de dados administrativos do IBGE e do CadÚnico e tem muito a ganhar caso haja um acompanhamento e coleta primária de dados com os próprios beneficiários do Cartão CSF.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O efeito encontrado é puramente da renda. Lembramos que o risco de Insan pode ser afetado por outras ações, como a qualificação e a presença de cozinhas.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aixaDeTexto 9"/>
          <p:cNvSpPr/>
          <p:nvPr/>
        </p:nvSpPr>
        <p:spPr>
          <a:xfrm>
            <a:off x="1080000" y="1976040"/>
            <a:ext cx="10383480" cy="455400"/>
          </a:xfrm>
          <a:prstGeom prst="rect">
            <a:avLst/>
          </a:prstGeom>
          <a:solidFill>
            <a:srgbClr val="0f9200"/>
          </a:soli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PRÓXIMOS PASSOS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900000" y="2752560"/>
            <a:ext cx="10438560" cy="12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Outros exercícios podem ser realizados, como calcular diferentes valores para o cartão e ver como eles alteram a probabilidade de Insan grave.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Utilizar outras fontes de dados sobre Insan, como a aplicação da TRIA.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>
            <a:off x="1620000" y="2340000"/>
            <a:ext cx="917856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BRASIL, Ministério do Desenvolvimento e Assistência Social, Família e Combate à Fome. CADINSAN: indicador de risco de insegurança alimentar municipal a partir dos dados do cadunico. Brasilía, 2025. Disponível em https://www.gov.br/mds/pt-br/Sisan/monitoramento-da-san/Relatorio_CadINSAN.pdf Acesso em jan/2026. 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620000" y="1586520"/>
            <a:ext cx="1779480" cy="4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Kanit"/>
              </a:rPr>
              <a:t>REFERÊNCIAS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aixaDeTexto 2"/>
          <p:cNvSpPr/>
          <p:nvPr/>
        </p:nvSpPr>
        <p:spPr>
          <a:xfrm>
            <a:off x="1952640" y="2180520"/>
            <a:ext cx="8665920" cy="23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4000" b="1" u="none" strike="noStrike">
                <a:solidFill>
                  <a:srgbClr val="000000"/>
                </a:solidFill>
                <a:effectLst/>
                <a:uFillTx/>
                <a:latin typeface="Kanit"/>
              </a:rPr>
              <a:t>Obrigado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João Victor Batista Lopes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Assessor Técnico | DISOC – IPECE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Maitree"/>
              </a:rPr>
              <a:t>Dados abertos · Código aberto · Ciência reprodutível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</TotalTime>
  <Application>LibreOffice/25.8.7.3$Windows_X86_64 LibreOffice_project/30742500f2d3eb4366ac312fa33d3dcabdb3eba5</Application>
  <AppVersion>15.0000</AppVersion>
  <Words>1007</Words>
  <Paragraphs>87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2021-04-17T17:42:16Z</dcterms:created>
  <dc:creator>Nertan Crevel</dc:creator>
  <dc:description/>
  <dc:language>pt-BR</dc:language>
  <cp:lastModifiedBy/>
  <dcterms:modified xsi:type="dcterms:W3CDTF">2026-06-29T09:01:59Z</dcterms:modified>
  <cp:revision>107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ActionId">
    <vt:lpwstr>7a3ce1cc-ec6a-4b9c-ac8b-31d493e525c2</vt:lpwstr>
  </property>
  <property fmtid="{D5CDD505-2E9C-101B-9397-08002B2CF9AE}" pid="3" name="MSIP_Label_defa4170-0d19-0005-0004-bc88714345d2_ContentBits">
    <vt:lpwstr>0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etDate">
    <vt:lpwstr>2024-06-04T16:55:25Z</vt:lpwstr>
  </property>
  <property fmtid="{D5CDD505-2E9C-101B-9397-08002B2CF9AE}" pid="8" name="MSIP_Label_defa4170-0d19-0005-0004-bc88714345d2_SiteId">
    <vt:lpwstr>a281075a-ef05-4955-af75-185e0173842a</vt:lpwstr>
  </property>
  <property fmtid="{D5CDD505-2E9C-101B-9397-08002B2CF9AE}" pid="9" name="PresentationFormat">
    <vt:lpwstr>Widescreen</vt:lpwstr>
  </property>
  <property fmtid="{D5CDD505-2E9C-101B-9397-08002B2CF9AE}" pid="10" name="Slides">
    <vt:i4>17</vt:i4>
  </property>
</Properties>
</file>